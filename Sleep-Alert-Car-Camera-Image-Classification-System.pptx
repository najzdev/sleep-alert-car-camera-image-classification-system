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54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7476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Excellence Center · Advanced Python Programming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SLEEP ALERT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Driver Drowsiness Detection System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Camera Image Classification for Driver Safety Monitoring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Edge-Vision Analytics &amp; Computer Vision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1280160" cy="292608"/>
          </a:xfrm>
          <a:prstGeom prst="rect">
            <a:avLst/>
          </a:prstGeom>
          <a:solidFill>
            <a:srgbClr val="0891B2">
              <a:alpha val="30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94560" y="3657600"/>
            <a:ext cx="1280160" cy="292608"/>
          </a:xfrm>
          <a:prstGeom prst="rect">
            <a:avLst/>
          </a:prstGeom>
          <a:solidFill>
            <a:srgbClr val="0891B2">
              <a:alpha val="30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3657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0" y="3657600"/>
            <a:ext cx="1280160" cy="292608"/>
          </a:xfrm>
          <a:prstGeom prst="rect">
            <a:avLst/>
          </a:prstGeom>
          <a:solidFill>
            <a:srgbClr val="0891B2">
              <a:alpha val="30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3657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120640" y="3657600"/>
            <a:ext cx="1280160" cy="292608"/>
          </a:xfrm>
          <a:prstGeom prst="rect">
            <a:avLst/>
          </a:prstGeom>
          <a:solidFill>
            <a:srgbClr val="0891B2">
              <a:alpha val="30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3657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583680" y="3657600"/>
            <a:ext cx="1280160" cy="292608"/>
          </a:xfrm>
          <a:prstGeom prst="rect">
            <a:avLst/>
          </a:prstGeom>
          <a:solidFill>
            <a:srgbClr val="0891B2">
              <a:alpha val="30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3657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Haar Cascades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4297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 : JAAFAR Idrais</a:t>
            </a:r>
            <a:endParaRPr lang="en-US" sz="1100" dirty="0">
              <a:solidFill>
                <a:srgbClr val="111111"/>
              </a:solidFill>
              <a:latin typeface="Roboto" panose="02000000000000000000" pitchFamily="2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Contributors : LABBAALLI Hamza  |  MAAROUF Yassine  |  ID-BOUBRIK Abdelouahed  |  IDDAHA Soumaya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46177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DROWSY DRIVING CRISIS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- Why This Matters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2560320" cy="164592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3444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100,000+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3152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Police-reported crashes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annually in the US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83280" y="1234440"/>
            <a:ext cx="2560320" cy="164592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1234440"/>
            <a:ext cx="2560320" cy="54864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14630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7764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1,550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356616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Fatalities per year from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drowsy driving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234440"/>
            <a:ext cx="2560320" cy="164592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234440"/>
            <a:ext cx="2560320" cy="54864"/>
          </a:xfrm>
          <a:prstGeom prst="rect">
            <a:avLst/>
          </a:prstGeom>
          <a:solidFill>
            <a:srgbClr val="22D3EE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4630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1228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$12.5B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6400800" y="19659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economic cost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drowsy driving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48640" y="3108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Risk Factors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548640" y="3474720"/>
            <a:ext cx="4389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deprivation: Less than 6 hours doubles crash risk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driving hours: Monotonous highway driving induces fatigue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drowsiness at 2–6 AM and 2–4 PM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drivers face 2x higher risk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303520" y="3200400"/>
            <a:ext cx="3474720" cy="1371600"/>
          </a:xfrm>
          <a:prstGeom prst="rect">
            <a:avLst/>
          </a:prstGeom>
          <a:solidFill>
            <a:srgbClr val="0891B2">
              <a:alpha val="15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486400" y="32918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 Need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5486400" y="36576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systems that can detect early signs of drowsiness and alert drivers before accidents occur affordable, non-intrusive, and edge-deployable.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Edge-Based AI Monitoring System - Sleep Alert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image classification service designed for low-resource edge scenarios, using computer vision to continuously monitor driver states and classify them in real-time.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560320" cy="146304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8308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9659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3152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open, driver attentive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35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383280" y="1783080"/>
            <a:ext cx="2560320" cy="146304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83280" y="178308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96596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38328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DROWSY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56616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closing frequently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35–75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217920" y="1783080"/>
            <a:ext cx="2560320" cy="146304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783080"/>
            <a:ext cx="2560320" cy="54864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96596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00800" y="2788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closed &gt; 2s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&gt; 75 — Immediate alert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Pipeline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548640" y="3886200"/>
            <a:ext cx="1920240" cy="914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97764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6012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40080" y="4297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streams live video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2468880" y="3977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891B2"/>
                </a:solidFill>
              </a:rPr>
              <a:t>→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2697480" y="3886200"/>
            <a:ext cx="1920240" cy="914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8920" y="3977640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310896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2788920" y="4297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Haar Cascades locate face &amp; eyes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4617720" y="3977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891B2"/>
                </a:solidFill>
              </a:rPr>
              <a:t>→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4846320" y="3886200"/>
            <a:ext cx="1920240" cy="914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3977640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525780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Classify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4937760" y="4297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state → Drowsiness score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6766560" y="3977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891B2"/>
                </a:solidFill>
              </a:rPr>
              <a:t>→</a:t>
            </a:r>
            <a:endParaRPr lang="en-US" sz="1600" dirty="0"/>
          </a:p>
        </p:txBody>
      </p:sp>
      <p:sp>
        <p:nvSpPr>
          <p:cNvPr id="38" name="Shape 30"/>
          <p:cNvSpPr/>
          <p:nvPr/>
        </p:nvSpPr>
        <p:spPr>
          <a:xfrm>
            <a:off x="6995160" y="3886200"/>
            <a:ext cx="1920240" cy="914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3977640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406640" y="3959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</a:t>
            </a:r>
            <a:endParaRPr lang="en-US" sz="1200" dirty="0"/>
          </a:p>
        </p:txBody>
      </p:sp>
      <p:sp>
        <p:nvSpPr>
          <p:cNvPr id="41" name="Text 32"/>
          <p:cNvSpPr/>
          <p:nvPr/>
        </p:nvSpPr>
        <p:spPr>
          <a:xfrm>
            <a:off x="7086600" y="42976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&amp; audio warnings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Design &amp; Data Flow - Pro-Vision v2.0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4114800" cy="658368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54864" cy="65836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26464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Video Input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234440" y="1600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 · 640×480 · 30 FPS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377440" y="19385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</a:rPr>
              <a:t>▼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2103120"/>
            <a:ext cx="4114800" cy="658368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2103120"/>
            <a:ext cx="54864" cy="65836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249424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3444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detection_engine.py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234440" y="2423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FaceDetector · DrowsinessClassifier · FrameAnnotator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2377440" y="27614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</a:rPr>
              <a:t>▼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48640" y="2926080"/>
            <a:ext cx="4114800" cy="658368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2926080"/>
            <a:ext cx="54864" cy="65836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072384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23444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alert_system.py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1234440" y="3246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 · EventLogger · JSON Logging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2377440" y="35844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891B2"/>
                </a:solidFill>
              </a:rPr>
              <a:t>▼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48640" y="3749040"/>
            <a:ext cx="4114800" cy="658368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548640" y="3749040"/>
            <a:ext cx="54864" cy="658368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895344"/>
            <a:ext cx="320040" cy="32004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234440" y="3794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app.py (Streamlit)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123444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 · Real-time Metrics · Charts · Event Logs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029200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config.json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5029200" y="1600200"/>
            <a:ext cx="3657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face_scale_factor: 1.1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eye_min_neighbors: 5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clahe_clip_limit: 2.0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history_window: 15 frames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drowsy_threshold: 35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sleep_threshold: 75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skip_frames: 2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beep_cooldown: 2.0s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502920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Structure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5029200" y="3520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pro-vision-v2/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app.py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detection_engine.py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alert_system.py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config.json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requirements.txt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vision_events.json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README.md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DETAILS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Engine - Classification Logic - Scoring Algorithm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Engine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4114800" cy="6400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002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Haar Cascade Classifiers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18562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face_default.xml + eye.xml + smile.xml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4114800" cy="6400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3774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CLAHE Enhancement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26334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Limited Adaptive Histogram Equalization (clipLimit=2.0)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4114800" cy="6400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15468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ROI-Based Detection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410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searched only in face region (22%-52% face height)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4114800" cy="6400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931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 Skipping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1879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Nth frame for 2-3x speedup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Scoring Algorithm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0" y="1554480"/>
            <a:ext cx="3657600" cy="228600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1" name="Text 19"/>
          <p:cNvSpPr/>
          <p:nvPr/>
        </p:nvSpPr>
        <p:spPr>
          <a:xfrm>
            <a:off x="5212080" y="164592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15-Frame Rolling Window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eye closure ratio over last 15 frames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Drowsiness Score (0-100)
</a:t>
            </a:r>
            <a:endParaRPr lang="en-US" sz="1200" dirty="0"/>
          </a:p>
          <a:p>
            <a:pPr marL="0" indent="0">
              <a:buNone/>
            </a:pPr>
            <a:r>
              <a:rPr lang="en-US" sz="9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sleep_ratio = closed_frames / total_frames
score = sleep_ratio × 100
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Hysteresis prevents false positives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decays when eyes open (recovery)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Blink Detection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029200" y="4297680"/>
            <a:ext cx="3657600" cy="50292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4" name="Text 22"/>
          <p:cNvSpPr/>
          <p:nvPr/>
        </p:nvSpPr>
        <p:spPr>
          <a:xfrm>
            <a:off x="5212080" y="43251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Distinguishes blinks vs. closure · Tracks blinks/30s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patterns trigger warnings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THREE-STATE CLASSIFICATION ENGINE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Criteria - System Response - Confidence Levels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2560320" cy="3200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25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AWAKE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16459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State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965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Criteria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21945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aspect ratio &gt; 0.25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blink frequency (15-20/min)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open &gt; 90% of time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Response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status indicator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monitoring, no alerts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931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95%+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83280" y="1188720"/>
            <a:ext cx="2560320" cy="3200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118872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3383280" y="1325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DROWSY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83280" y="16459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State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20440" y="1965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Criteria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20440" y="21945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aspect ratio 0.15-0.25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blink frequency (&lt;10/min)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open 70-90% of time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52044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Response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warning indicator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alert tone, 'Take a break'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3931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85-95%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1188720"/>
            <a:ext cx="2560320" cy="320040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188720"/>
            <a:ext cx="256032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1325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217920" y="16459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State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55080" y="1965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 Criteria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55080" y="21945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aspect ratio &lt; 0.15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closed &gt; 2 seconds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eye movement detected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55080" y="31089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Response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5508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critical alert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alarm, flashing screen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17920" y="3931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90%+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&lt;100ms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4754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69748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 FPS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2697480" y="4754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84632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92%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846320" y="4754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95160" y="4526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24/7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995160" y="4754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Advanced Python Concepts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98448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1261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3.9+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1645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 — OOP, decorators,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functions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83280" y="11887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11887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129844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931920" y="1261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OpenCV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566160" y="1645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Haar Cascade classifiers for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face, eye, smile detection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217920" y="11887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1887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298448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66560" y="12618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Streamlit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00800" y="16459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web dashboard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real-time video streaming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48640" y="25603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48640" y="25603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670048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9728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NumPy / Pandas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3152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 operations, metrics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data analysis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383280" y="25603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383280" y="25603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2670048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93192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Haar Cascade XML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356616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classifiers —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required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6217920" y="2560320"/>
            <a:ext cx="2560320" cy="109728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217920" y="2560320"/>
            <a:ext cx="54864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2670048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76656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Architecture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6400800" y="30175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for low-resource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environments, works offline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548640" y="40233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Python Concepts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54864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 ·  Decorators (@timer, @logger)  ·  First-Class Functions  ·  Async/Concurrency  ·  MLOps Practices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&amp; PERFORMANCE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Interface - Benchmarks - Test Results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0" y="1234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Performance Benchmarks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554480"/>
          <a:ext cx="3291840" cy="1792224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 Accuracy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Processing Speed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FPS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 Positive 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Usage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 MB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Features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48640" y="420624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webcam feed with bounding boxes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state classification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Drowsiness score chart over time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 rate trend &amp; event logs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502920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Controls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029200" y="4206240"/>
            <a:ext cx="3657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Mode: Live / Demo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Sensitivity: 3-20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Skip: 1-5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Audio/Visual alerts toggle</a:t>
            </a:r>
            <a:endParaRPr lang="en-US" sz="900" dirty="0"/>
          </a:p>
        </p:txBody>
      </p:sp>
      <p:pic>
        <p:nvPicPr>
          <p:cNvPr id="16" name="Picture 15" descr="A screenshot of a video chat">
            <a:extLst>
              <a:ext uri="{FF2B5EF4-FFF2-40B4-BE49-F238E27FC236}">
                <a16:creationId xmlns:a16="http://schemas.microsoft.com/office/drawing/2014/main" id="{E1A5E861-3F18-925F-F0D5-6999893B7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1" y="1167513"/>
            <a:ext cx="4417370" cy="256615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CASES &amp; APPLICATIONS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Deployment Scenarios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3931920" cy="128016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34440"/>
            <a:ext cx="54864" cy="128016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1732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371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Fleet Management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280160" y="1691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driver fatigue across commercial fleets.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 ↓ 45% · ROI: 300%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846320" y="1234440"/>
            <a:ext cx="3931920" cy="128016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234440"/>
            <a:ext cx="54864" cy="128016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4173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371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Long-Haul Trucking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577840" y="1691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catastrophic highway accidents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caused by fatigue and highway hypnosis.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48640" y="2788920"/>
            <a:ext cx="3931920" cy="128016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48640" y="2788920"/>
            <a:ext cx="54864" cy="128016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97180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Personal Vehicles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280160" y="32461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ADAS integration for families.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Market: $2.1B · Growth: 15%/yr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846320" y="2788920"/>
            <a:ext cx="3931920" cy="1280160"/>
          </a:xfrm>
          <a:prstGeom prst="rect">
            <a:avLst/>
          </a:prstGeom>
          <a:solidFill>
            <a:srgbClr val="172033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846320" y="2788920"/>
            <a:ext cx="54864" cy="128016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97180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77840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Ride-Sharing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577840" y="32461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passenger safety in Uber/Lyft.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trust building.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2743200" y="4343400"/>
            <a:ext cx="3657600" cy="502920"/>
          </a:xfrm>
          <a:prstGeom prst="rect">
            <a:avLst/>
          </a:prstGeom>
          <a:solidFill>
            <a:srgbClr val="0891B2">
              <a:alpha val="15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926080" y="437083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$3.2B 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monitoring systems market by 2028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SETUP &amp; EDGE DEPLOYMENT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Setup - Hardware Requirements - Edge Compatibility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Start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4389120" cy="50292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276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600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Clone Repository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https://github.com/najzdev/Sleep-Alert-...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176272"/>
            <a:ext cx="4389120" cy="50292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2494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221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Install Dependencies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4323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streamlit opencv-python numpy pandas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2798064"/>
            <a:ext cx="4389120" cy="50292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8712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8437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Launch Application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0540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streamlit run app.py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48640" y="3419856"/>
            <a:ext cx="4389120" cy="50292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4930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46557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Dashboard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51560" y="36758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Auto-opens at http://localhost:8501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1188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Hardware Requirements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508760"/>
          <a:ext cx="3474720" cy="128016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Dual-core 2.0GHz+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minimum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720p+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MB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530352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Device Compatibility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303520" y="3246120"/>
            <a:ext cx="3474720" cy="4114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0" y="326440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Raspberry Pi 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0" y="344728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optimized, 15-20 FPS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303520" y="3749040"/>
            <a:ext cx="3474720" cy="4114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30" name="Text 27"/>
          <p:cNvSpPr/>
          <p:nvPr/>
        </p:nvSpPr>
        <p:spPr>
          <a:xfrm>
            <a:off x="5486400" y="37673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NVIDIA Jetson Nano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486400" y="395020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acceleration, 25-30 FPS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303520" y="4251960"/>
            <a:ext cx="3474720" cy="411480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0" y="427024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In-Vehicle Systems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86400" y="445312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automotive ECUs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ROADMAP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2.0+ Enhancements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8046720" cy="6217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188720"/>
            <a:ext cx="54864" cy="62179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2344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v2.0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316736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1234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828800" y="150876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CNN/LSTM models (target: 98%+)  ·  Transfer Learning (ResNet, MobileNet)  ·  Continuous online learning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48640" y="1938528"/>
            <a:ext cx="8046720" cy="6217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1938528"/>
            <a:ext cx="54864" cy="62179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19842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v2.5</a:t>
            </a:r>
            <a:endParaRPr lang="en-US" sz="12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2066544"/>
            <a:ext cx="320040" cy="3200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828800" y="19842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Multi-Driver &amp; Fleet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828800" y="2258568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Simultaneous multi-driver monitoring  ·  Driver identification &amp; profiles  ·  Personalized alert thresholds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6217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9" name="Shape 15"/>
          <p:cNvSpPr/>
          <p:nvPr/>
        </p:nvSpPr>
        <p:spPr>
          <a:xfrm>
            <a:off x="548640" y="2688336"/>
            <a:ext cx="54864" cy="62179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6"/>
          <p:cNvSpPr/>
          <p:nvPr/>
        </p:nvSpPr>
        <p:spPr>
          <a:xfrm>
            <a:off x="731520" y="27340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v3.0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2816352"/>
            <a:ext cx="32004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828800" y="273405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Vehicle Integration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1828800" y="3008376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Bus support (speed, steering)  ·  Haptic steering wheel feedback  ·  Lane-keeping assist activation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48640" y="3438144"/>
            <a:ext cx="8046720" cy="6217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25" name="Shape 20"/>
          <p:cNvSpPr/>
          <p:nvPr/>
        </p:nvSpPr>
        <p:spPr>
          <a:xfrm>
            <a:off x="548640" y="3438144"/>
            <a:ext cx="54864" cy="621792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26" name="Text 21"/>
          <p:cNvSpPr/>
          <p:nvPr/>
        </p:nvSpPr>
        <p:spPr>
          <a:xfrm>
            <a:off x="731520" y="34838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v4.0</a:t>
            </a:r>
            <a:endParaRPr lang="en-US" sz="12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" y="3566160"/>
            <a:ext cx="320040" cy="32004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828800" y="34838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&amp; Mobile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1828800" y="3758184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monitoring dashboard  ·  Push notifications for critical states  ·  Predictive analytics &amp; compliance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48640" y="4187952"/>
            <a:ext cx="8046720" cy="621792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31" name="Shape 25"/>
          <p:cNvSpPr/>
          <p:nvPr/>
        </p:nvSpPr>
        <p:spPr>
          <a:xfrm>
            <a:off x="548640" y="4187952"/>
            <a:ext cx="54864" cy="62179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2" name="Text 26"/>
          <p:cNvSpPr/>
          <p:nvPr/>
        </p:nvSpPr>
        <p:spPr>
          <a:xfrm>
            <a:off x="731520" y="42336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v5.0</a:t>
            </a:r>
            <a:endParaRPr lang="en-US" sz="12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1600" y="4315968"/>
            <a:ext cx="320040" cy="3200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1828800" y="42336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Expanded Detection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1828800" y="450799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Distraction detection (phone usage)  ·  Emotion &amp; stress analysis  ·  Gaze tracking &amp; attention monitoring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0F1729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Alert System - Real-Time Driver Safety Through Edge AI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Achievements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63040"/>
            <a:ext cx="4114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Python concepts applied to a real-world safety problem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Deployment-ready edge vision system with &lt;100ms latency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 accuracy in three-state drowsiness classification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solution for resource-constrained devices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Proposition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0" y="1463040"/>
            <a:ext cx="3749040" cy="384048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14813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Safety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212080" y="166420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accidents by detecting drowsiness early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0" y="1920240"/>
            <a:ext cx="3749040" cy="384048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0" y="19385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Effective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212080" y="212140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accident-related costs by 45%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2377440"/>
            <a:ext cx="3749040" cy="384048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2395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Edge-Optimized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212080" y="257860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dependency, works offline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0" y="2834640"/>
            <a:ext cx="3749040" cy="384048"/>
          </a:xfrm>
          <a:prstGeom prst="rect">
            <a:avLst/>
          </a:prstGeom>
          <a:solidFill>
            <a:srgbClr val="172033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28529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Scalable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212080" y="303580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vehicles to enterprise fleets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8046720" cy="731520"/>
          </a:xfrm>
          <a:prstGeom prst="rect">
            <a:avLst/>
          </a:prstGeom>
          <a:solidFill>
            <a:srgbClr val="0891B2">
              <a:alpha val="15000"/>
            </a:srgbClr>
          </a:solidFill>
          <a:ln w="9525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5204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Sleep Alert system demonstrates the practical application of advanced Python programming to solve a critical real-world safety problem. By combining computer vision, edge computing, and modern software engineering, we created a solution that can save lives on the road.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5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0" y="10972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011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0" y="2651760"/>
            <a:ext cx="2743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2926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github.com/najzdev/Sleep-Alert-Car-Camera-Image-Classification-System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0" y="34747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LABBAALLI Hamza  |  MAAROUF Yassine  |  ID-BOUBRIK Abdelouahed  |  IDDAHA Soumaya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0" y="3931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Excellence Center · Advanced Python Programming · April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1269</Words>
  <Application>Microsoft Office PowerPoint</Application>
  <PresentationFormat>On-screen Show (16:9)</PresentationFormat>
  <Paragraphs>296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Consolas</vt:lpstr>
      <vt:lpstr>Roboto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Sleep Alert - Driver Drowsiness Detection System</dc:title>
  <dc:subject>PptxGenJS Presentation</dc:subject>
  <dc:creator>Sleep Alert Team</dc:creator>
  <cp:lastModifiedBy>yassine maarouf</cp:lastModifiedBy>
  <cp:revision>7</cp:revision>
  <dcterms:created xsi:type="dcterms:W3CDTF">2026-04-12T13:48:55Z</dcterms:created>
  <dcterms:modified xsi:type="dcterms:W3CDTF">2026-04-12T19:56:23Z</dcterms:modified>
</cp:coreProperties>
</file>